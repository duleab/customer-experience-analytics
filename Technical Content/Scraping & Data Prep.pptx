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Raleway Medium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RalewayMedium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Medium-italic.fntdata"/><Relationship Id="rId6" Type="http://schemas.openxmlformats.org/officeDocument/2006/relationships/slide" Target="slides/slide1.xml"/><Relationship Id="rId18" Type="http://schemas.openxmlformats.org/officeDocument/2006/relationships/font" Target="fonts/Raleway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126e9ef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126e9ef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126e9efd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126e9efd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126e9efd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126e9efd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126e9efd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126e9efd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126e9efd1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126e9efd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126e9efd1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6126e9efd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126e9efd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126e9efd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400">
                <a:solidFill>
                  <a:srgbClr val="EF6C00"/>
                </a:solidFill>
                <a:latin typeface="Raleway"/>
                <a:ea typeface="Raleway"/>
                <a:cs typeface="Raleway"/>
                <a:sym typeface="Raleway"/>
              </a:rPr>
              <a:t>Scraping &amp; Data Prep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1547" y="0"/>
            <a:ext cx="2322451" cy="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We'll explore the 'why' behind scraping, the 'how' of getting data with Python, the 'why' of cleaning, and the 'how' of making data perfect. Then, we'll immediately jump into a practical demo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1547" y="0"/>
            <a:ext cx="2322451" cy="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EF6C00"/>
                </a:solidFill>
                <a:latin typeface="Raleway"/>
                <a:ea typeface="Raleway"/>
                <a:cs typeface="Raleway"/>
                <a:sym typeface="Raleway"/>
              </a:rPr>
              <a:t>Scraping Basics - Getting the Data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</a:pPr>
            <a:r>
              <a:rPr lang="en-GB" sz="14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Imagine having access to thousands of direct, unsolicited opinions from your app users. That's the power of online reviews!</a:t>
            </a:r>
            <a:endParaRPr sz="14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</a:pPr>
            <a:r>
              <a:rPr lang="en-GB" sz="14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Manually collecting this much feedback is impossible. That's where web scraping comes in – it’s our automated solution for gathering this massive amount of raw, real-time customer data.</a:t>
            </a:r>
            <a:endParaRPr sz="14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</a:pPr>
            <a:r>
              <a:rPr lang="en-GB" sz="14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We'll focus on Google Play Store reviews because they offer direct user experiences and a huge volume of feedback.</a:t>
            </a:r>
            <a:endParaRPr sz="14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</a:pPr>
            <a:r>
              <a:rPr lang="en-GB" sz="14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What can we learn? Common pain points, popular feature requests, sentiment shifts over time, and direct comparisons between apps.</a:t>
            </a:r>
            <a:endParaRPr sz="14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</a:pPr>
            <a:r>
              <a:rPr lang="en-GB" sz="14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Our target: We're aiming to collect 400+ reviews per bank, totaling 1,200+ reviews, to ensure we have a robust dataset for analysis.</a:t>
            </a:r>
            <a:endParaRPr sz="14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1547" y="0"/>
            <a:ext cx="2322451" cy="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EF6C00"/>
                </a:solidFill>
                <a:latin typeface="Raleway"/>
                <a:ea typeface="Raleway"/>
                <a:cs typeface="Raleway"/>
                <a:sym typeface="Raleway"/>
              </a:rPr>
              <a:t>Why Clean Data? 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</a:pPr>
            <a:r>
              <a:rPr lang="en-GB" sz="14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"What is Web Scraping? It's simply automating the process of extracting data from websites. Instead of manually copying and pasting, our code does the work!"</a:t>
            </a:r>
            <a:endParaRPr sz="14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"For this task, we'll use a fantastic Python library called </a:t>
            </a:r>
            <a:r>
              <a:rPr lang="en-GB" sz="140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google-play-scraper</a:t>
            </a:r>
            <a:r>
              <a:rPr lang="en-GB" sz="14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 It's designed specifically for pulling app reviews, ratings, and other details directly from the Google Play Store."</a:t>
            </a:r>
            <a:endParaRPr sz="14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"Why this library? It's user-friendly and handles many complexities for us, making it ideal for beginners. You don't need to be an HTML expert!"</a:t>
            </a:r>
            <a:endParaRPr sz="14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</a:pPr>
            <a:r>
              <a:rPr lang="en-GB" sz="14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"Key data points we'll extract for each review:</a:t>
            </a:r>
            <a:endParaRPr sz="14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Review Text: The actual written feedback.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Rating: The star rating (1-5).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Date: When the review was posted.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App Name: Which specific bank app the review is for."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1547" y="0"/>
            <a:ext cx="2322451" cy="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EF6C00"/>
                </a:solidFill>
                <a:latin typeface="Raleway"/>
                <a:ea typeface="Raleway"/>
                <a:cs typeface="Raleway"/>
                <a:sym typeface="Raleway"/>
              </a:rPr>
              <a:t>Common Data Problems &amp; Strategies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381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b="1" lang="en-GB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ata Cleaning &amp; Preprocessing Strategy</a:t>
            </a:r>
            <a:endParaRPr b="1" sz="19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Body: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"You've scraped the data – great! But here's the reality: Raw scraped data is almost never perfect. It's often messy, inconsistent, and contains errors."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"The 'Garbage In, Garbage Out' (GIGO) Principle: If your input data is flawed, any analysis or insights you derive from it will also be flawed and unreliable. You'll make bad decisions based on bad data!"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"What does 'dirty' data look like? Think duplicate entries, missing information, inconsistent formats, or irrelevant characters."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"Our Goal: To transform this raw, messy data into a clean, standardized, and reliable dataset that is ready for accurate and meaningful analysis. This is a fundamental step for any data project."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1547" y="0"/>
            <a:ext cx="2322451" cy="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EF6C00"/>
                </a:solidFill>
                <a:latin typeface="Raleway"/>
                <a:ea typeface="Raleway"/>
                <a:cs typeface="Raleway"/>
                <a:sym typeface="Raleway"/>
              </a:rPr>
              <a:t>cont’d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○"/>
            </a:pP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"Let's look at the typical problems we'll encounter and how we'll fix them:"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○"/>
            </a:pP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"Problem 1: Duplicate Reviews"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■"/>
            </a:pP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Description: Sometimes, due to scraping logic or Google Play Store behavior, you might collect the exact same review multiple times.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■"/>
            </a:pP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Strategy: Removing duplicates. We'll use </a:t>
            </a: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Python’s</a:t>
            </a: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GB" sz="130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pandas</a:t>
            </a: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library, specifically methods like </a:t>
            </a:r>
            <a:r>
              <a:rPr lang="en-GB" sz="130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df.drop_duplicates()</a:t>
            </a: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to ensure every review entry is unique.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○"/>
            </a:pP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"Problem 2: Missing Data"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■"/>
            </a:pP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Description: Some reviews might be missing a rating, a date, or even the review text itself.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■"/>
            </a:pP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Strategy: Handling missing values. We'll decide whether to: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■"/>
            </a:pP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Remove rows: If a critical piece of information (like the review text) is missing (</a:t>
            </a:r>
            <a:r>
              <a:rPr lang="en-GB" sz="130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df.dropna()</a:t>
            </a: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).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■"/>
            </a:pP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Fill in: If a non-critical piece is missing, we might fill it with a default value (</a:t>
            </a:r>
            <a:r>
              <a:rPr lang="en-GB" sz="130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df.fillna()</a:t>
            </a:r>
            <a:r>
              <a:rPr lang="en-GB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).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1547" y="0"/>
            <a:ext cx="2322451" cy="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EF6C00"/>
                </a:solidFill>
                <a:latin typeface="Raleway"/>
                <a:ea typeface="Raleway"/>
                <a:cs typeface="Raleway"/>
                <a:sym typeface="Raleway"/>
              </a:rPr>
              <a:t>cont’d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○"/>
            </a:pP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"Problem 3: Inconsistent Date Formats"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Description: Dates can appear in many ways (e.g., 'May 1, 2023', '01-05-23', '2023/05/01'). This makes time-series analysis impossible.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Strategy: Normalizing dates. We'll convert all dates to a single, consistent format (e.g., </a:t>
            </a:r>
            <a:r>
              <a:rPr lang="en-GB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YYYY-MM-DD</a:t>
            </a: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) using </a:t>
            </a:r>
            <a:r>
              <a:rPr lang="en-GB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pandas.to_datetime()</a:t>
            </a: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and </a:t>
            </a:r>
            <a:r>
              <a:rPr lang="en-GB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strftime()</a:t>
            </a: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"Final Output: Our hard work results in a clean CSV file with precisely defined columns: </a:t>
            </a:r>
            <a:r>
              <a:rPr lang="en-GB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review</a:t>
            </a: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</a:t>
            </a:r>
            <a:r>
              <a:rPr lang="en-GB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rating</a:t>
            </a: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</a:t>
            </a:r>
            <a:r>
              <a:rPr lang="en-GB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date</a:t>
            </a: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</a:t>
            </a:r>
            <a:r>
              <a:rPr lang="en-GB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bank</a:t>
            </a: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and </a:t>
            </a:r>
            <a:r>
              <a:rPr lang="en-GB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source</a:t>
            </a: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– ready for powerful CX analysis!"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1547" y="0"/>
            <a:ext cx="2322451" cy="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