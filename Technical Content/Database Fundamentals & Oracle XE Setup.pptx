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Raleway"/>
      <p:regular r:id="rId16"/>
      <p:bold r:id="rId17"/>
      <p:italic r:id="rId18"/>
      <p:boldItalic r:id="rId19"/>
    </p:embeddedFont>
    <p:embeddedFont>
      <p:font typeface="Roboto"/>
      <p:regular r:id="rId20"/>
      <p:bold r:id="rId21"/>
      <p:italic r:id="rId22"/>
      <p:boldItalic r:id="rId23"/>
    </p:embeddedFont>
    <p:embeddedFont>
      <p:font typeface="Montserrat"/>
      <p:regular r:id="rId24"/>
      <p:bold r:id="rId25"/>
      <p:italic r:id="rId26"/>
      <p:boldItalic r:id="rId27"/>
    </p:embeddedFont>
    <p:embeddedFont>
      <p:font typeface="Lato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regular.fntdata"/><Relationship Id="rId22" Type="http://schemas.openxmlformats.org/officeDocument/2006/relationships/font" Target="fonts/Roboto-italic.fntdata"/><Relationship Id="rId21" Type="http://schemas.openxmlformats.org/officeDocument/2006/relationships/font" Target="fonts/Roboto-bold.fntdata"/><Relationship Id="rId24" Type="http://schemas.openxmlformats.org/officeDocument/2006/relationships/font" Target="fonts/Montserrat-regular.fntdata"/><Relationship Id="rId23" Type="http://schemas.openxmlformats.org/officeDocument/2006/relationships/font" Target="fonts/Robot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-italic.fntdata"/><Relationship Id="rId25" Type="http://schemas.openxmlformats.org/officeDocument/2006/relationships/font" Target="fonts/Montserrat-bold.fntdata"/><Relationship Id="rId28" Type="http://schemas.openxmlformats.org/officeDocument/2006/relationships/font" Target="fonts/Lato-regular.fntdata"/><Relationship Id="rId27" Type="http://schemas.openxmlformats.org/officeDocument/2006/relationships/font" Target="fonts/Montserrat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La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Lato-boldItalic.fntdata"/><Relationship Id="rId30" Type="http://schemas.openxmlformats.org/officeDocument/2006/relationships/font" Target="fonts/Lat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aleway-bold.fntdata"/><Relationship Id="rId16" Type="http://schemas.openxmlformats.org/officeDocument/2006/relationships/font" Target="fonts/Raleway-regular.fntdata"/><Relationship Id="rId19" Type="http://schemas.openxmlformats.org/officeDocument/2006/relationships/font" Target="fonts/Raleway-boldItalic.fntdata"/><Relationship Id="rId18" Type="http://schemas.openxmlformats.org/officeDocument/2006/relationships/font" Target="fonts/Raleway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613a24375d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613a24375d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613a24375d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613a24375d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613a24375d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613a24375d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613a24375d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613a24375d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5fe3970dec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5fe3970dec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5fe3970dec_1_3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5fe3970dec_1_3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5fe3970dec_1_3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5fe3970dec_1_3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5fe3970dec_1_3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5fe3970dec_1_3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5fe3970dec_1_3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5fe3970dec_1_3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www.oracle.com/database/technologies/xe-downloads.html" TargetMode="External"/><Relationship Id="rId4" Type="http://schemas.openxmlformats.org/officeDocument/2006/relationships/hyperlink" Target="https://www.youtube.com/watch?v=DYleroLay5E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www.oracle.com/database/technologies/xe-downloads.html" TargetMode="External"/><Relationship Id="rId4" Type="http://schemas.openxmlformats.org/officeDocument/2006/relationships/hyperlink" Target="https://www.youtube.com/watch?v=yTSq_xwaDmM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://oracle.com/database/technologies/oracle-database-software-downloads.html" TargetMode="External"/><Relationship Id="rId4" Type="http://schemas.openxmlformats.org/officeDocument/2006/relationships/hyperlink" Target="https://www.youtube.com/watch?v=xYYEkMdc0ZQ" TargetMode="External"/><Relationship Id="rId5" Type="http://schemas.openxmlformats.org/officeDocument/2006/relationships/hyperlink" Target="https://www.youtube.com/watch?v=uxvoMhkKUPE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www.youtube.com/watch?v=u4hCAMzOTH4" TargetMode="External"/><Relationship Id="rId4" Type="http://schemas.openxmlformats.org/officeDocument/2006/relationships/hyperlink" Target="https://python-oracledb.readthedocs.io/en/latest/user_guide/connection_handling.html" TargetMode="External"/><Relationship Id="rId9" Type="http://schemas.openxmlformats.org/officeDocument/2006/relationships/hyperlink" Target="https://www.youtube.com/watch?v=nwjZWHou8u0" TargetMode="External"/><Relationship Id="rId5" Type="http://schemas.openxmlformats.org/officeDocument/2006/relationships/hyperlink" Target="https://python-oracledb.readthedocs.io/en/latest/user_guide/sql_execution.html" TargetMode="External"/><Relationship Id="rId6" Type="http://schemas.openxmlformats.org/officeDocument/2006/relationships/hyperlink" Target="https://www.youtube.com/watch?v=nvdnQX9UkMY" TargetMode="External"/><Relationship Id="rId7" Type="http://schemas.openxmlformats.org/officeDocument/2006/relationships/hyperlink" Target="https://www.youtube.com/watch?v=hd0Lbtly41Y" TargetMode="External"/><Relationship Id="rId8" Type="http://schemas.openxmlformats.org/officeDocument/2006/relationships/hyperlink" Target="https://www.youtube.com/watch?v=nwjZWHou8u0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583650" y="745775"/>
            <a:ext cx="8106300" cy="247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 sz="4900">
                <a:latin typeface="Raleway"/>
                <a:ea typeface="Raleway"/>
                <a:cs typeface="Raleway"/>
                <a:sym typeface="Raleway"/>
              </a:rPr>
              <a:t>Database Fundamentals &amp; Oracle XE Setup</a:t>
            </a:r>
            <a:endParaRPr b="1" sz="4900"/>
          </a:p>
        </p:txBody>
      </p:sp>
      <p:pic>
        <p:nvPicPr>
          <p:cNvPr id="135" name="Google Shape;135;p13" title="5915caf3e0baa8a2a889fe856541413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0325" y="3454725"/>
            <a:ext cx="6868024" cy="16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Database Fundamentals</a:t>
            </a:r>
            <a:endParaRPr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00"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lang="en-GB" sz="1500">
                <a:latin typeface="Arial"/>
                <a:ea typeface="Arial"/>
                <a:cs typeface="Arial"/>
                <a:sym typeface="Arial"/>
              </a:rPr>
              <a:t>database</a:t>
            </a:r>
            <a:r>
              <a:rPr lang="en-GB" sz="1500">
                <a:latin typeface="Arial"/>
                <a:ea typeface="Arial"/>
                <a:cs typeface="Arial"/>
                <a:sym typeface="Arial"/>
              </a:rPr>
              <a:t> is an organized collection of data that can be easily accessed, managed, and updated.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●"/>
            </a:pPr>
            <a:r>
              <a:rPr b="1" lang="en-GB" sz="1500">
                <a:latin typeface="Arial"/>
                <a:ea typeface="Arial"/>
                <a:cs typeface="Arial"/>
                <a:sym typeface="Arial"/>
              </a:rPr>
              <a:t>Relational Databases (RDBMS):</a:t>
            </a:r>
            <a:r>
              <a:rPr lang="en-GB" sz="1500">
                <a:latin typeface="Arial"/>
                <a:ea typeface="Arial"/>
                <a:cs typeface="Arial"/>
                <a:sym typeface="Arial"/>
              </a:rPr>
              <a:t> Data is stored in tables (rows &amp; columns).</a:t>
            </a:r>
            <a:br>
              <a:rPr lang="en-GB" sz="1500">
                <a:latin typeface="Arial"/>
                <a:ea typeface="Arial"/>
                <a:cs typeface="Arial"/>
                <a:sym typeface="Arial"/>
              </a:rPr>
            </a:br>
            <a:r>
              <a:rPr lang="en-GB" sz="1500">
                <a:latin typeface="Arial"/>
                <a:ea typeface="Arial"/>
                <a:cs typeface="Arial"/>
                <a:sym typeface="Arial"/>
              </a:rPr>
              <a:t> Examples: MySQL, PostgreSQL, SQLite, Oracle, SQL Server.</a:t>
            </a:r>
            <a:br>
              <a:rPr lang="en-GB" sz="1500">
                <a:latin typeface="Arial"/>
                <a:ea typeface="Arial"/>
                <a:cs typeface="Arial"/>
                <a:sym typeface="Arial"/>
              </a:rPr>
            </a:b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●"/>
            </a:pPr>
            <a:r>
              <a:rPr b="1" lang="en-GB" sz="1500">
                <a:latin typeface="Arial"/>
                <a:ea typeface="Arial"/>
                <a:cs typeface="Arial"/>
                <a:sym typeface="Arial"/>
              </a:rPr>
              <a:t>Non-relational Databases (NoSQL):</a:t>
            </a:r>
            <a:r>
              <a:rPr lang="en-GB" sz="1500">
                <a:latin typeface="Arial"/>
                <a:ea typeface="Arial"/>
                <a:cs typeface="Arial"/>
                <a:sym typeface="Arial"/>
              </a:rPr>
              <a:t> Data is stored in flexible formats like documents, key-value pairs, or graphs.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500"/>
              <a:t>Examples: MongoDB, Redis, Cassandra, Neo4j.</a:t>
            </a:r>
            <a:endParaRPr sz="15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cont…</a:t>
            </a:r>
            <a:endParaRPr/>
          </a:p>
        </p:txBody>
      </p:sp>
      <p:sp>
        <p:nvSpPr>
          <p:cNvPr id="147" name="Google Shape;147;p1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Arial"/>
                <a:ea typeface="Arial"/>
                <a:cs typeface="Arial"/>
                <a:sym typeface="Arial"/>
              </a:rPr>
              <a:t>Database</a:t>
            </a:r>
            <a:r>
              <a:rPr lang="en-GB">
                <a:latin typeface="Arial"/>
                <a:ea typeface="Arial"/>
                <a:cs typeface="Arial"/>
                <a:sym typeface="Arial"/>
              </a:rPr>
              <a:t>: Organized collection of data for efficient access and management</a:t>
            </a:r>
            <a:br>
              <a:rPr lang="en-GB">
                <a:latin typeface="Arial"/>
                <a:ea typeface="Arial"/>
                <a:cs typeface="Arial"/>
                <a:sym typeface="Arial"/>
              </a:rPr>
            </a:b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>
                <a:latin typeface="Arial"/>
                <a:ea typeface="Arial"/>
                <a:cs typeface="Arial"/>
                <a:sym typeface="Arial"/>
              </a:rPr>
              <a:t>Relational Database (RDBMS)</a:t>
            </a:r>
            <a:r>
              <a:rPr lang="en-GB">
                <a:latin typeface="Arial"/>
                <a:ea typeface="Arial"/>
                <a:cs typeface="Arial"/>
                <a:sym typeface="Arial"/>
              </a:rPr>
              <a:t>: Structured data in tables (e.g., MySQL, PostgreSQL)</a:t>
            </a:r>
            <a:br>
              <a:rPr lang="en-GB">
                <a:latin typeface="Arial"/>
                <a:ea typeface="Arial"/>
                <a:cs typeface="Arial"/>
                <a:sym typeface="Arial"/>
              </a:rPr>
            </a:b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>
                <a:latin typeface="Arial"/>
                <a:ea typeface="Arial"/>
                <a:cs typeface="Arial"/>
                <a:sym typeface="Arial"/>
              </a:rPr>
              <a:t>Non-relational Database (NoSQL)</a:t>
            </a:r>
            <a:r>
              <a:rPr lang="en-GB">
                <a:latin typeface="Arial"/>
                <a:ea typeface="Arial"/>
                <a:cs typeface="Arial"/>
                <a:sym typeface="Arial"/>
              </a:rPr>
              <a:t>: Flexible data formats (e.g., MongoDB, Redis)</a:t>
            </a:r>
            <a:br>
              <a:rPr lang="en-GB">
                <a:latin typeface="Arial"/>
                <a:ea typeface="Arial"/>
                <a:cs typeface="Arial"/>
                <a:sym typeface="Arial"/>
              </a:rPr>
            </a:b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>
                <a:latin typeface="Arial"/>
                <a:ea typeface="Arial"/>
                <a:cs typeface="Arial"/>
                <a:sym typeface="Arial"/>
              </a:rPr>
              <a:t>Table</a:t>
            </a:r>
            <a:r>
              <a:rPr lang="en-GB">
                <a:latin typeface="Arial"/>
                <a:ea typeface="Arial"/>
                <a:cs typeface="Arial"/>
                <a:sym typeface="Arial"/>
              </a:rPr>
              <a:t>: Stores data in rows (records) and columns (fields)</a:t>
            </a:r>
            <a:br>
              <a:rPr lang="en-GB">
                <a:latin typeface="Arial"/>
                <a:ea typeface="Arial"/>
                <a:cs typeface="Arial"/>
                <a:sym typeface="Arial"/>
              </a:rPr>
            </a:b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>
                <a:latin typeface="Arial"/>
                <a:ea typeface="Arial"/>
                <a:cs typeface="Arial"/>
                <a:sym typeface="Arial"/>
              </a:rPr>
              <a:t>Schema</a:t>
            </a:r>
            <a:r>
              <a:rPr lang="en-GB">
                <a:latin typeface="Arial"/>
                <a:ea typeface="Arial"/>
                <a:cs typeface="Arial"/>
                <a:sym typeface="Arial"/>
              </a:rPr>
              <a:t>: Defines structure of tables and relationships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cont…</a:t>
            </a:r>
            <a:endParaRPr/>
          </a:p>
        </p:txBody>
      </p:sp>
      <p:sp>
        <p:nvSpPr>
          <p:cNvPr id="153" name="Google Shape;153;p16"/>
          <p:cNvSpPr txBox="1"/>
          <p:nvPr>
            <p:ph idx="1" type="body"/>
          </p:nvPr>
        </p:nvSpPr>
        <p:spPr>
          <a:xfrm>
            <a:off x="1297500" y="1567550"/>
            <a:ext cx="7038900" cy="330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en-GB" sz="1366">
                <a:latin typeface="Arial"/>
                <a:ea typeface="Arial"/>
                <a:cs typeface="Arial"/>
                <a:sym typeface="Arial"/>
              </a:rPr>
              <a:t>Schema</a:t>
            </a:r>
            <a:r>
              <a:rPr lang="en-GB" sz="1366">
                <a:latin typeface="Arial"/>
                <a:ea typeface="Arial"/>
                <a:cs typeface="Arial"/>
                <a:sym typeface="Arial"/>
              </a:rPr>
              <a:t>: Defines structure of tables and relationships</a:t>
            </a:r>
            <a:br>
              <a:rPr lang="en-GB" sz="1366">
                <a:latin typeface="Arial"/>
                <a:ea typeface="Arial"/>
                <a:cs typeface="Arial"/>
                <a:sym typeface="Arial"/>
              </a:rPr>
            </a:br>
            <a:endParaRPr sz="1366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b="1" lang="en-GB" sz="1366">
                <a:latin typeface="Arial"/>
                <a:ea typeface="Arial"/>
                <a:cs typeface="Arial"/>
                <a:sym typeface="Arial"/>
              </a:rPr>
              <a:t>Primary Key</a:t>
            </a:r>
            <a:r>
              <a:rPr lang="en-GB" sz="1366">
                <a:latin typeface="Arial"/>
                <a:ea typeface="Arial"/>
                <a:cs typeface="Arial"/>
                <a:sym typeface="Arial"/>
              </a:rPr>
              <a:t>: Unique identifier for each record</a:t>
            </a:r>
            <a:br>
              <a:rPr lang="en-GB" sz="1366">
                <a:latin typeface="Arial"/>
                <a:ea typeface="Arial"/>
                <a:cs typeface="Arial"/>
                <a:sym typeface="Arial"/>
              </a:rPr>
            </a:br>
            <a:endParaRPr sz="1366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b="1" lang="en-GB" sz="1366">
                <a:latin typeface="Arial"/>
                <a:ea typeface="Arial"/>
                <a:cs typeface="Arial"/>
                <a:sym typeface="Arial"/>
              </a:rPr>
              <a:t>Foreign Key</a:t>
            </a:r>
            <a:r>
              <a:rPr lang="en-GB" sz="1366">
                <a:latin typeface="Arial"/>
                <a:ea typeface="Arial"/>
                <a:cs typeface="Arial"/>
                <a:sym typeface="Arial"/>
              </a:rPr>
              <a:t>: Links records between tables to create relationships</a:t>
            </a:r>
            <a:br>
              <a:rPr lang="en-GB" sz="1366">
                <a:latin typeface="Arial"/>
                <a:ea typeface="Arial"/>
                <a:cs typeface="Arial"/>
                <a:sym typeface="Arial"/>
              </a:rPr>
            </a:br>
            <a:endParaRPr sz="1366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b="1" lang="en-GB" sz="1366">
                <a:latin typeface="Arial"/>
                <a:ea typeface="Arial"/>
                <a:cs typeface="Arial"/>
                <a:sym typeface="Arial"/>
              </a:rPr>
              <a:t>SQL</a:t>
            </a:r>
            <a:r>
              <a:rPr lang="en-GB" sz="1366">
                <a:latin typeface="Arial"/>
                <a:ea typeface="Arial"/>
                <a:cs typeface="Arial"/>
                <a:sym typeface="Arial"/>
              </a:rPr>
              <a:t>: Language for querying and manipulating relational data</a:t>
            </a:r>
            <a:br>
              <a:rPr lang="en-GB" sz="1366">
                <a:latin typeface="Arial"/>
                <a:ea typeface="Arial"/>
                <a:cs typeface="Arial"/>
                <a:sym typeface="Arial"/>
              </a:rPr>
            </a:br>
            <a:endParaRPr sz="1366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b="1" lang="en-GB" sz="1366">
                <a:latin typeface="Arial"/>
                <a:ea typeface="Arial"/>
                <a:cs typeface="Arial"/>
                <a:sym typeface="Arial"/>
              </a:rPr>
              <a:t>CRUD Operations</a:t>
            </a:r>
            <a:r>
              <a:rPr lang="en-GB" sz="1366">
                <a:latin typeface="Arial"/>
                <a:ea typeface="Arial"/>
                <a:cs typeface="Arial"/>
                <a:sym typeface="Arial"/>
              </a:rPr>
              <a:t>: Create, Read, Update, Delete</a:t>
            </a:r>
            <a:br>
              <a:rPr lang="en-GB" sz="1366">
                <a:latin typeface="Arial"/>
                <a:ea typeface="Arial"/>
                <a:cs typeface="Arial"/>
                <a:sym typeface="Arial"/>
              </a:rPr>
            </a:br>
            <a:endParaRPr sz="1366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b="1" lang="en-GB" sz="1366">
                <a:latin typeface="Arial"/>
                <a:ea typeface="Arial"/>
                <a:cs typeface="Arial"/>
                <a:sym typeface="Arial"/>
              </a:rPr>
              <a:t>Indexes</a:t>
            </a:r>
            <a:r>
              <a:rPr lang="en-GB" sz="1366">
                <a:latin typeface="Arial"/>
                <a:ea typeface="Arial"/>
                <a:cs typeface="Arial"/>
                <a:sym typeface="Arial"/>
              </a:rPr>
              <a:t>: Improve query performance by speeding up lookups</a:t>
            </a:r>
            <a:endParaRPr sz="1366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605"/>
              <a:buNone/>
            </a:pPr>
            <a:r>
              <a:t/>
            </a:r>
            <a:endParaRPr sz="914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cont…</a:t>
            </a:r>
            <a:endParaRPr/>
          </a:p>
        </p:txBody>
      </p:sp>
      <p:sp>
        <p:nvSpPr>
          <p:cNvPr id="159" name="Google Shape;159;p17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00">
                <a:latin typeface="Arial"/>
                <a:ea typeface="Arial"/>
                <a:cs typeface="Arial"/>
                <a:sym typeface="Arial"/>
              </a:rPr>
              <a:t>Relationships</a:t>
            </a:r>
            <a:r>
              <a:rPr lang="en-GB" sz="1400">
                <a:latin typeface="Arial"/>
                <a:ea typeface="Arial"/>
                <a:cs typeface="Arial"/>
                <a:sym typeface="Arial"/>
              </a:rPr>
              <a:t>: One-to-One, One-to-Many, Many-to-Many</a:t>
            </a:r>
            <a:br>
              <a:rPr lang="en-GB" sz="1400">
                <a:latin typeface="Arial"/>
                <a:ea typeface="Arial"/>
                <a:cs typeface="Arial"/>
                <a:sym typeface="Arial"/>
              </a:rPr>
            </a:b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400">
                <a:latin typeface="Arial"/>
                <a:ea typeface="Arial"/>
                <a:cs typeface="Arial"/>
                <a:sym typeface="Arial"/>
              </a:rPr>
              <a:t>Normalization</a:t>
            </a:r>
            <a:r>
              <a:rPr lang="en-GB" sz="1400">
                <a:latin typeface="Arial"/>
                <a:ea typeface="Arial"/>
                <a:cs typeface="Arial"/>
                <a:sym typeface="Arial"/>
              </a:rPr>
              <a:t>: Reduces data redundancy by organizing tables</a:t>
            </a:r>
            <a:br>
              <a:rPr lang="en-GB" sz="1400">
                <a:latin typeface="Arial"/>
                <a:ea typeface="Arial"/>
                <a:cs typeface="Arial"/>
                <a:sym typeface="Arial"/>
              </a:rPr>
            </a:b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400">
                <a:latin typeface="Arial"/>
                <a:ea typeface="Arial"/>
                <a:cs typeface="Arial"/>
                <a:sym typeface="Arial"/>
              </a:rPr>
              <a:t>Transactions &amp; ACID</a:t>
            </a:r>
            <a:r>
              <a:rPr lang="en-GB" sz="1400">
                <a:latin typeface="Arial"/>
                <a:ea typeface="Arial"/>
                <a:cs typeface="Arial"/>
                <a:sym typeface="Arial"/>
              </a:rPr>
              <a:t>: Ensures data integrity (Atomicity, Consistency, Isolation, Durability)</a:t>
            </a:r>
            <a:br>
              <a:rPr lang="en-GB" sz="1400">
                <a:latin typeface="Arial"/>
                <a:ea typeface="Arial"/>
                <a:cs typeface="Arial"/>
                <a:sym typeface="Arial"/>
              </a:rPr>
            </a:b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400">
                <a:latin typeface="Arial"/>
                <a:ea typeface="Arial"/>
                <a:cs typeface="Arial"/>
                <a:sym typeface="Arial"/>
              </a:rPr>
              <a:t>NoSQL Types</a:t>
            </a:r>
            <a:r>
              <a:rPr lang="en-GB" sz="1400">
                <a:latin typeface="Arial"/>
                <a:ea typeface="Arial"/>
                <a:cs typeface="Arial"/>
                <a:sym typeface="Arial"/>
              </a:rPr>
              <a:t>: Document, Key-Value, Wide-Column, Graph</a:t>
            </a:r>
            <a:br>
              <a:rPr lang="en-GB" sz="1400">
                <a:latin typeface="Arial"/>
                <a:ea typeface="Arial"/>
                <a:cs typeface="Arial"/>
                <a:sym typeface="Arial"/>
              </a:rPr>
            </a:b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 sz="1400">
                <a:latin typeface="Arial"/>
                <a:ea typeface="Arial"/>
                <a:cs typeface="Arial"/>
                <a:sym typeface="Arial"/>
              </a:rPr>
              <a:t>When to Use NoSQL</a:t>
            </a:r>
            <a:r>
              <a:rPr lang="en-GB" sz="1400">
                <a:latin typeface="Arial"/>
                <a:ea typeface="Arial"/>
                <a:cs typeface="Arial"/>
                <a:sym typeface="Arial"/>
              </a:rPr>
              <a:t>: Unstructured data, scalability, flexible schema</a:t>
            </a:r>
            <a:endParaRPr sz="1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Oracle</a:t>
            </a:r>
            <a:endParaRPr/>
          </a:p>
        </p:txBody>
      </p:sp>
      <p:sp>
        <p:nvSpPr>
          <p:cNvPr id="165" name="Google Shape;165;p18"/>
          <p:cNvSpPr txBox="1"/>
          <p:nvPr>
            <p:ph idx="1" type="body"/>
          </p:nvPr>
        </p:nvSpPr>
        <p:spPr>
          <a:xfrm>
            <a:off x="1297500" y="1567550"/>
            <a:ext cx="7038900" cy="30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609600" rtl="0" algn="just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D4D4D4"/>
              </a:buClr>
              <a:buSzPts val="1600"/>
              <a:buFont typeface="Arial"/>
              <a:buChar char="●"/>
            </a:pPr>
            <a:r>
              <a:rPr lang="en-GB" sz="1600">
                <a:solidFill>
                  <a:srgbClr val="D4D4D4"/>
                </a:solidFill>
                <a:highlight>
                  <a:srgbClr val="252526"/>
                </a:highlight>
                <a:latin typeface="Arial"/>
                <a:ea typeface="Arial"/>
                <a:cs typeface="Arial"/>
                <a:sym typeface="Arial"/>
              </a:rPr>
              <a:t>Oracle is known for its advanced enterprise features, performance, and support, which go beyond what MySQL and PostgreSQL offer out-of-the-box.</a:t>
            </a:r>
            <a:endParaRPr sz="1600">
              <a:solidFill>
                <a:srgbClr val="D4D4D4"/>
              </a:solidFill>
              <a:highlight>
                <a:srgbClr val="252526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30200" lvl="0" marL="6096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600"/>
              <a:buFont typeface="Arial"/>
              <a:buChar char="●"/>
            </a:pPr>
            <a:r>
              <a:rPr lang="en-GB" sz="1600">
                <a:solidFill>
                  <a:srgbClr val="D4D4D4"/>
                </a:solidFill>
                <a:highlight>
                  <a:srgbClr val="252526"/>
                </a:highlight>
                <a:latin typeface="Arial"/>
                <a:ea typeface="Arial"/>
                <a:cs typeface="Arial"/>
                <a:sym typeface="Arial"/>
              </a:rPr>
              <a:t>Oracle, PostgreSQL, and MySQL are all relational databases, but Oracle is a commercial, feature-rich solution for large enterprises, while PostgreSQL and MySQL are open-source and more commonly used for smaller-scale or web-based applications.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Windows</a:t>
            </a:r>
            <a:endParaRPr/>
          </a:p>
        </p:txBody>
      </p:sp>
      <p:sp>
        <p:nvSpPr>
          <p:cNvPr id="171" name="Google Shape;171;p19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 u="sng">
                <a:hlinkClick r:id="rId3"/>
              </a:rPr>
              <a:t>https://www.oracle.com/database/technologies/xe-downloads.html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/>
              <a:t>Video</a:t>
            </a:r>
            <a:endParaRPr sz="1600"/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-GB" sz="1600" u="sng">
                <a:solidFill>
                  <a:schemeClr val="hlink"/>
                </a:solidFill>
                <a:hlinkClick r:id="rId4"/>
              </a:rPr>
              <a:t>https://www.youtube.com/watch?v=DYleroLay5E</a:t>
            </a:r>
            <a:endParaRPr sz="1600"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Linux</a:t>
            </a:r>
            <a:endParaRPr/>
          </a:p>
        </p:txBody>
      </p:sp>
      <p:sp>
        <p:nvSpPr>
          <p:cNvPr id="177" name="Google Shape;177;p20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sz="1405"/>
          </a:p>
          <a:p>
            <a:pPr indent="-33401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660"/>
              <a:buChar char="●"/>
            </a:pPr>
            <a:r>
              <a:rPr lang="en-GB" sz="1660" u="sng">
                <a:hlinkClick r:id="rId3"/>
              </a:rPr>
              <a:t>https://www.oracle.com/database/technologies/xe-downloads.html</a:t>
            </a:r>
            <a:endParaRPr sz="1660"/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sz="1405"/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sz="1405"/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sz="140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en-GB" sz="1405"/>
              <a:t>Video</a:t>
            </a:r>
            <a:endParaRPr sz="1405"/>
          </a:p>
          <a:p>
            <a:pPr indent="-317817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405"/>
              <a:buChar char="●"/>
            </a:pPr>
            <a:r>
              <a:rPr lang="en-GB" sz="1405" u="sng">
                <a:solidFill>
                  <a:schemeClr val="hlink"/>
                </a:solidFill>
                <a:hlinkClick r:id="rId4"/>
              </a:rPr>
              <a:t>https://www.youtube.com/watch?v=yTSq_xwaDmM</a:t>
            </a:r>
            <a:endParaRPr sz="1405"/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sz="140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t/>
            </a:r>
            <a:endParaRPr sz="1405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Mac</a:t>
            </a:r>
            <a:endParaRPr/>
          </a:p>
        </p:txBody>
      </p:sp>
      <p:sp>
        <p:nvSpPr>
          <p:cNvPr id="183" name="Google Shape;183;p21"/>
          <p:cNvSpPr txBox="1"/>
          <p:nvPr>
            <p:ph idx="1" type="body"/>
          </p:nvPr>
        </p:nvSpPr>
        <p:spPr>
          <a:xfrm>
            <a:off x="1005200" y="1116150"/>
            <a:ext cx="7331100" cy="38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400" u="sng">
                <a:solidFill>
                  <a:schemeClr val="hlink"/>
                </a:solidFill>
                <a:hlinkClick r:id="rId3"/>
              </a:rPr>
              <a:t>http://oracle.com/database/technologies/oracle-database-software-downloads.html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/>
              <a:t>It needs Docker installation</a:t>
            </a:r>
            <a:endParaRPr sz="1600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-GB" sz="1400" u="sng">
                <a:solidFill>
                  <a:schemeClr val="hlink"/>
                </a:solidFill>
                <a:hlinkClick r:id="rId4"/>
              </a:rPr>
              <a:t>https://www.youtube.com/watch?v=xYYEkMdc0ZQ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400"/>
              <a:t>https://github.com/oracle/docker-images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/>
              <a:t>Docker run</a:t>
            </a:r>
            <a:endParaRPr sz="1600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-GB" sz="1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docker run -d --name oracle19 -e ORACLE_PWD=youpassword -p 1521:1521 oracle/database:19.3.0-ee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/>
              <a:t>Installation Video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 u="sng">
                <a:solidFill>
                  <a:schemeClr val="hlink"/>
                </a:solidFill>
                <a:hlinkClick r:id="rId5"/>
              </a:rPr>
              <a:t>https://www.youtube.com/watch?v=uxvoMhkKUPE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600"/>
              <a:t>Vs Code extension</a:t>
            </a:r>
            <a:r>
              <a:rPr lang="en-GB" sz="1400"/>
              <a:t> :  </a:t>
            </a:r>
            <a:r>
              <a:rPr lang="en-GB" sz="1250">
                <a:solidFill>
                  <a:srgbClr val="CCCCCC"/>
                </a:solidFill>
                <a:highlight>
                  <a:srgbClr val="1F1F1F"/>
                </a:highlight>
                <a:latin typeface="Arial"/>
                <a:ea typeface="Arial"/>
                <a:cs typeface="Arial"/>
                <a:sym typeface="Arial"/>
              </a:rPr>
              <a:t>Oracle SQL Developer Extension for VSCode</a:t>
            </a:r>
            <a:endParaRPr sz="7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900"/>
              <a:t>References</a:t>
            </a:r>
            <a:endParaRPr sz="2900"/>
          </a:p>
        </p:txBody>
      </p:sp>
      <p:sp>
        <p:nvSpPr>
          <p:cNvPr id="189" name="Google Shape;189;p22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 u="sng">
                <a:solidFill>
                  <a:schemeClr val="hlink"/>
                </a:solidFill>
                <a:hlinkClick r:id="rId3"/>
              </a:rPr>
              <a:t>https://www.youtube.com/watch?v=u4hCAMzOTH4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 u="sng">
                <a:solidFill>
                  <a:schemeClr val="hlink"/>
                </a:solidFill>
                <a:hlinkClick r:id="rId4"/>
              </a:rPr>
              <a:t>https://python-oracledb.readthedocs.io/en/latest/user_guide/connection_handling.html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 u="sng">
                <a:solidFill>
                  <a:schemeClr val="hlink"/>
                </a:solidFill>
                <a:hlinkClick r:id="rId5"/>
              </a:rPr>
              <a:t>https://python-oracledb.readthedocs.io/en/latest/user_guide/sql_execution.html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Virtual box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-GB" u="sng">
                <a:solidFill>
                  <a:schemeClr val="hlink"/>
                </a:solidFill>
                <a:hlinkClick r:id="rId6"/>
              </a:rPr>
              <a:t>https://www.youtube.com/watch?v=nvdnQX9UkMY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 u="sng">
                <a:solidFill>
                  <a:schemeClr val="hlink"/>
                </a:solidFill>
                <a:hlinkClick r:id="rId7"/>
              </a:rPr>
              <a:t>https://www.youtube.com/watch?v=hd0Lbtly41Y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 u="sng">
                <a:solidFill>
                  <a:schemeClr val="hlink"/>
                </a:solidFill>
                <a:hlinkClick r:id="rId8"/>
              </a:rPr>
              <a:t>https://www.youtube.com/watch?v=nwjZWHou8u</a:t>
            </a:r>
            <a:r>
              <a:rPr lang="en-GB" u="sng">
                <a:solidFill>
                  <a:schemeClr val="hlink"/>
                </a:solidFill>
                <a:hlinkClick r:id="rId9"/>
              </a:rPr>
              <a:t>0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