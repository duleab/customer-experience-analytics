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91A1D6-49F1-44DB-9495-45F3DC1F569B}">
  <a:tblStyle styleId="{DB91A1D6-49F1-44DB-9495-45F3DC1F56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Raleway-bold.fntdata"/><Relationship Id="rId10" Type="http://schemas.openxmlformats.org/officeDocument/2006/relationships/slide" Target="slides/slide4.xml"/><Relationship Id="rId21" Type="http://schemas.openxmlformats.org/officeDocument/2006/relationships/font" Target="fonts/Raleway-regular.fntdata"/><Relationship Id="rId13" Type="http://schemas.openxmlformats.org/officeDocument/2006/relationships/slide" Target="slides/slide7.xml"/><Relationship Id="rId24" Type="http://schemas.openxmlformats.org/officeDocument/2006/relationships/font" Target="fonts/Raleway-boldItalic.fntdata"/><Relationship Id="rId12" Type="http://schemas.openxmlformats.org/officeDocument/2006/relationships/slide" Target="slides/slide6.xml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d0fcc51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d0fcc51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8f76547f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8f76547f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8f76547f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8f76547f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8f76547f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8f76547f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8f76547f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8f76547f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15b090d7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15b090d7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8f76547f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8f76547f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8f76547f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8f76547f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8f76547f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8f76547f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8f76547f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8f76547f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8f76547f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8f76547f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15b090d7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15b090d7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c7706a11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dc7706a11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olab.research.google.com/drive/1ZgkyLokgwAXWc6oH1HTZLQ3d7LPJ4Oxf#scrollTo=Fy12o4MYaDsq" TargetMode="External"/><Relationship Id="rId4" Type="http://schemas.openxmlformats.org/officeDocument/2006/relationships/hyperlink" Target="https://www.kaggle.com/datasets/furqanrustam118/calling-apps-reviews-dataset?select=Telegram.csv" TargetMode="External"/><Relationship Id="rId5" Type="http://schemas.openxmlformats.org/officeDocument/2006/relationships/hyperlink" Target="https://huggingface.co/blog/sentiment-analysis-python" TargetMode="External"/><Relationship Id="rId6" Type="http://schemas.openxmlformats.org/officeDocument/2006/relationships/hyperlink" Target="https://www.geeksforgeeks.org/what-is-sentiment-analysis/" TargetMode="External"/><Relationship Id="rId7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60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Sentiment Analysis and Keyword Extraction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What is Sentiment Analysis?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Sentiment analysis uses natural language processing (NLP) to determine the emotional tone in text, classifying it as positive, negative, or neutral.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Importance for App Reviews: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Gauges customer satisfaction and user experience.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Identifies areas for app improvement.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Supports competitive analysis by comparing user sentiments.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Prioritizing feature updates based on user feedback.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Measuring brand perception.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Enhancing customer support strategies.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What is Keyword Extraction?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Keyword extraction identifies significant words or phrases that represent key themes or topics in text.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Importance for App Reviews: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Highlights common praises (e.g., "user-friendly") or complaints (e.g., "bugs").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Reveals frequently mentioned features or issues.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Guiding app development by focusing on user-mentioned features.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Informing marketing strategies with user-preferred terms.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Identifying trends for product improvement.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>
                <a:latin typeface="Raleway"/>
                <a:ea typeface="Raleway"/>
                <a:cs typeface="Raleway"/>
                <a:sym typeface="Raleway"/>
              </a:rPr>
              <a:t>Sentiment Analysis Methods: A Comparative Overview</a:t>
            </a:r>
            <a:endParaRPr sz="232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Lexicon-Based: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Description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Uses predefined word lists with sentiment scores.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Key Features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Simple, no training data required, fast.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Limitations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Misses context, poor handling of negation and sarcasm.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Quick sentiment gauging, social media monitoring.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Machine Learning-Based: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Description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Trains models (e.g., Naive Bayes, SVM) on labeled data.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Key Features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Learns from context, adaptable to different domains.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Limitations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Requires labeled data, risk of overfitting.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Customer feedback analysis, detailed sentiment classification.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Cont.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Deep Learning-Based: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Description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Utilizes neural networks (e.g., LSTM, BERT) for advanced context understanding.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Key Features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High accuracy, captures complex linguistic nuances.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Limitations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Requires large datasets and computational resources.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Aspect-based sentiment analysis, complex text analysis.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Rule-Based: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Description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Applies manually defined rules for sentiment classification.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Key Features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Transparent, no training data needed, customizable.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Limitations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Difficult to scale, may not cover all cases.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Specific use cases, initial prototyping.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Cont.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" name="Google Shape;90;p18"/>
          <p:cNvGraphicFramePr/>
          <p:nvPr/>
        </p:nvGraphicFramePr>
        <p:xfrm>
          <a:off x="403638" y="78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{DB91A1D6-49F1-44DB-9495-45F3DC1F569B}</a:tableStyleId>
              </a:tblPr>
              <a:tblGrid>
                <a:gridCol w="2677375"/>
                <a:gridCol w="2677375"/>
                <a:gridCol w="2677375"/>
              </a:tblGrid>
              <a:tr h="541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Method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Pros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Cons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91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Lexicon-Based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Easy, fast, no training data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Misses context, poor negation handling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91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Machine Learning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Handles context, accurate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Needs labeled data, overfitting risk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91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Deep Learning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State-of-the-art, captures nuances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Large data, high computational cost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911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Rule-Based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Transparent, no training data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Hard to scale, may miss cases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420">
                <a:latin typeface="Raleway"/>
                <a:ea typeface="Raleway"/>
                <a:cs typeface="Raleway"/>
                <a:sym typeface="Raleway"/>
              </a:rPr>
              <a:t>Table comparing VADER and TextBlob's approaches</a:t>
            </a:r>
            <a:endParaRPr sz="242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" name="Google Shape;97;p19"/>
          <p:cNvGraphicFramePr/>
          <p:nvPr/>
        </p:nvGraphicFramePr>
        <p:xfrm>
          <a:off x="800200" y="72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{DB91A1D6-49F1-44DB-9495-45F3DC1F569B}</a:tableStyleId>
              </a:tblPr>
              <a:tblGrid>
                <a:gridCol w="2475975"/>
                <a:gridCol w="2475975"/>
                <a:gridCol w="2475975"/>
              </a:tblGrid>
              <a:tr h="404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Aspect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VADER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TextBlob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42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Score Range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Compound score: -1 to +1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Polarity score: -1 to +1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64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Thresholds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Positive ≥ 0.05, Negative ≤ -0.05, Neutral in between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No fixed thresholds, user interpretation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64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Design Focus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Social media, informal text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General-purpose, formal and informal text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64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Sensitivity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High, captures nuanced sentiments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Lower, may miss subtle sentiments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64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Empirical Basis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Based on social media datasets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Based on pattern library, less domain-specific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64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Use Case Example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Classifying X posts, app reviews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Analyzing news articles, essays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Sentiment Analysis Techniques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Lexicon-based Methods: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TextBlob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Simple library for quick sentiment classification.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VADER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Optimized for social media and reviews, handles emojis and slang.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Machine Learning Methods: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Naive Bayes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Probabilistic classifier for text data.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SVM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Effective for high-dimensional text features.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Deep Learning Methods: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LSTM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Captures sequential context in reviews.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Transformers (e.g., BERT)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Advanced models for nuanced sentiment understanding.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320">
                <a:latin typeface="Raleway"/>
                <a:ea typeface="Raleway"/>
                <a:cs typeface="Raleway"/>
                <a:sym typeface="Raleway"/>
              </a:rPr>
              <a:t>Keyword Extraction Methods: A Comparative Overview</a:t>
            </a:r>
            <a:endParaRPr sz="232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Frequency-Based: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Description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Identifies most frequent words after removing stop words.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Key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Features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Simple, fast, easy to implement.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Limitations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May include irrelevant words, no contextual understanding.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Basic topic summarization, initial data exploration.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TF-IDF: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Description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Weighs word importance based on frequency in document vs. corpus.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Key Features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Considers corpus context, highlights significant terms.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Limitations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Statistical approach, may miss semantic meaning.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Document summarization, SEO, topic analysis.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Cont.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Topic Modeling (LDA):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Description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Groups words into topics based on co-occurrence patterns.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Key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Features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Uncovers hidden themes, useful for large collections.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Limitations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Requires setting topic numbers, interpretation can be challenging.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Theme discovery, content categorization.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Part-of-Speech Tagging (for Nouns):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Description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Extracts nouns as potential keywords, representing key concepts.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Key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Features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Focuses on meaningful words, easy to implement with spaCy.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Limitations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May include less relevant nouns, requires domain knowledge for interpretation.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Identifying key features or issues in app reviews.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Cont.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23"/>
          <p:cNvGraphicFramePr/>
          <p:nvPr/>
        </p:nvGraphicFramePr>
        <p:xfrm>
          <a:off x="511650" y="104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{DB91A1D6-49F1-44DB-9495-45F3DC1F569B}</a:tableStyleId>
              </a:tblPr>
              <a:tblGrid>
                <a:gridCol w="2559950"/>
                <a:gridCol w="2559950"/>
                <a:gridCol w="2559950"/>
              </a:tblGrid>
              <a:tr h="479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Method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Pros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GB" sz="11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Cons</a:t>
                      </a:r>
                      <a:endParaRPr b="1" sz="11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807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Frequency-Based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Simple, fast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Irrelevant words, no context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807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TF-IDF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Considers corpus context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Statistical, may miss semantics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807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Topic Modeling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Uncovers themes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Topic number setting, hard to interpret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  <a:tr h="807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POS Tagging (Nouns)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Focuses on meaningful words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May include less relevant terms, needs interpretation</a:t>
                      </a:r>
                      <a:endParaRPr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Keyword Extraction Techniques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Frequency-based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Identify the most common words in reviews.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TF-IDF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Highlights words that are significant across the dataset.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Topic Modeling (LDA)</a:t>
            </a:r>
            <a:r>
              <a:rPr lang="en-GB">
                <a:latin typeface="Raleway"/>
                <a:ea typeface="Raleway"/>
                <a:cs typeface="Raleway"/>
                <a:sym typeface="Raleway"/>
              </a:rPr>
              <a:t>: Groups words into topics for deeper insights.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>
                <a:latin typeface="Raleway"/>
                <a:ea typeface="Raleway"/>
                <a:cs typeface="Raleway"/>
                <a:sym typeface="Raleway"/>
              </a:rPr>
              <a:t>Applications:</a:t>
            </a:r>
            <a:endParaRPr b="1"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Pinpointing user pain points (e.g., "crash", "slow").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Highlighting praised features (e.g., "intuitive", "fast").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●"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Guiding app updates and marketing strategies.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159400" y="154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Reference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159400" y="726950"/>
            <a:ext cx="8895300" cy="44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-"/>
            </a:pPr>
            <a:r>
              <a:rPr lang="en-GB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Demo Notebook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-"/>
            </a:pPr>
            <a:r>
              <a:rPr lang="en-GB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Demo Dataset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-"/>
            </a:pPr>
            <a:r>
              <a:rPr lang="en-GB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Getting Started with Sentiment Analysis using Python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aleway"/>
              <a:buChar char="-"/>
            </a:pPr>
            <a:r>
              <a:rPr lang="en-GB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6"/>
              </a:rPr>
              <a:t>What is Sentiment Analysis?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Raleway"/>
                <a:ea typeface="Raleway"/>
                <a:cs typeface="Raleway"/>
                <a:sym typeface="Raleway"/>
              </a:rPr>
              <a:t>Any questions?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650" y="0"/>
            <a:ext cx="1240350" cy="5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